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28600" cy="6858000"/>
          </a:xfrm>
          <a:prstGeom prst="rect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822960" y="201168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6366F1"/>
                </a:solidFill>
                <a:latin typeface="Inter"/>
              </a:rPr>
              <a:t>УЧЕБНЫЙ ПРОЕКТ · АНАЛИЗ ДАННЫХ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972800" cy="12801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5400" b="1">
                <a:solidFill>
                  <a:srgbClr val="E2E8F0"/>
                </a:solidFill>
                <a:latin typeface="Inter"/>
              </a:rPr>
              <a:t>ArXiv Semantic Search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0">
                <a:solidFill>
                  <a:srgbClr val="94A3B8"/>
                </a:solidFill>
                <a:latin typeface="Inter"/>
              </a:rPr>
              <a:t>Polyglot persistence: четыре NoSQL базы данных в одном проекте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4754880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54864" bIns="54864"/>
          <a:lstStyle/>
          <a:p>
            <a:pPr algn="ctr"/>
            <a:r>
              <a:rPr sz="1100" b="1">
                <a:solidFill>
                  <a:srgbClr val="E2E8F0"/>
                </a:solidFill>
                <a:latin typeface="Inter"/>
              </a:rPr>
              <a:t>MongoDB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414016" y="4754880"/>
            <a:ext cx="1316736" cy="292608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54864" bIns="54864"/>
          <a:lstStyle/>
          <a:p>
            <a:pPr algn="ctr"/>
            <a:r>
              <a:rPr sz="1100" b="1">
                <a:solidFill>
                  <a:srgbClr val="E2E8F0"/>
                </a:solidFill>
                <a:latin typeface="Inter"/>
              </a:rPr>
              <a:t>Qdrant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840480" y="4754880"/>
            <a:ext cx="1152143" cy="292608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54864" bIns="54864"/>
          <a:lstStyle/>
          <a:p>
            <a:pPr algn="ctr"/>
            <a:r>
              <a:rPr sz="1100" b="1">
                <a:solidFill>
                  <a:srgbClr val="E2E8F0"/>
                </a:solidFill>
                <a:latin typeface="Inter"/>
              </a:rPr>
              <a:t>Redis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102351" y="4754880"/>
            <a:ext cx="1975103" cy="292608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54864" bIns="54864"/>
          <a:lstStyle/>
          <a:p>
            <a:pPr algn="ctr"/>
            <a:r>
              <a:rPr sz="1100" b="1">
                <a:solidFill>
                  <a:srgbClr val="E2E8F0"/>
                </a:solidFill>
                <a:latin typeface="Inter"/>
              </a:rPr>
              <a:t>ClickHouse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187182" y="4754880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54864" bIns="54864"/>
          <a:lstStyle/>
          <a:p>
            <a:pPr algn="ctr"/>
            <a:r>
              <a:rPr sz="1100" b="1">
                <a:solidFill>
                  <a:srgbClr val="E2E8F0"/>
                </a:solidFill>
                <a:latin typeface="Inter"/>
              </a:rPr>
              <a:t>FastAPI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78238" y="4754880"/>
            <a:ext cx="1152143" cy="292608"/>
          </a:xfrm>
          <a:prstGeom prst="roundRect">
            <a:avLst>
              <a:gd name="adj" fmla="val 50000"/>
            </a:avLst>
          </a:prstGeom>
          <a:solidFill>
            <a:srgbClr val="1A1D2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54864" bIns="54864"/>
          <a:lstStyle/>
          <a:p>
            <a:pPr algn="ctr"/>
            <a:r>
              <a:rPr sz="1100" b="1">
                <a:solidFill>
                  <a:srgbClr val="E2E8F0"/>
                </a:solidFill>
                <a:latin typeface="Inter"/>
              </a:rPr>
              <a:t>React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60350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РУДН  ·  Анализ данных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Inter"/>
              </a:rPr>
              <a:t>ЧТО ЗА ПРОЕКТ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Inter"/>
              </a:rPr>
              <a:t>Семантический поиск по статьям arXiv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9525">
            <a:solidFill>
              <a:srgbClr val="2A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71323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700" b="1">
                <a:solidFill>
                  <a:srgbClr val="6366F1"/>
                </a:solidFill>
                <a:latin typeface="Inter"/>
              </a:rPr>
              <a:t>▸  </a:t>
            </a:r>
            <a:r>
              <a:rPr sz="1700">
                <a:solidFill>
                  <a:srgbClr val="E2E8F0"/>
                </a:solidFill>
                <a:latin typeface="Inter"/>
              </a:rPr>
              <a:t>База ~8 000 статей категорий cs.AI / cs.LG / cs.CV</a:t>
            </a:r>
          </a:p>
          <a:p>
            <a:pPr algn="l">
              <a:lnSpc>
                <a:spcPct val="120000"/>
              </a:lnSpc>
            </a:pPr>
            <a:r>
              <a:rPr sz="1700" b="1">
                <a:solidFill>
                  <a:srgbClr val="6366F1"/>
                </a:solidFill>
                <a:latin typeface="Inter"/>
              </a:rPr>
              <a:t>▸  </a:t>
            </a:r>
            <a:r>
              <a:rPr sz="1700">
                <a:solidFill>
                  <a:srgbClr val="E2E8F0"/>
                </a:solidFill>
                <a:latin typeface="Inter"/>
              </a:rPr>
              <a:t>Запрос на естественном языке, а не keyword-match</a:t>
            </a:r>
          </a:p>
          <a:p>
            <a:pPr algn="l">
              <a:lnSpc>
                <a:spcPct val="120000"/>
              </a:lnSpc>
            </a:pPr>
            <a:r>
              <a:rPr sz="1700" b="1">
                <a:solidFill>
                  <a:srgbClr val="6366F1"/>
                </a:solidFill>
                <a:latin typeface="Inter"/>
              </a:rPr>
              <a:t>▸  </a:t>
            </a:r>
            <a:r>
              <a:rPr sz="1700">
                <a:solidFill>
                  <a:srgbClr val="E2E8F0"/>
                </a:solidFill>
                <a:latin typeface="Inter"/>
              </a:rPr>
              <a:t>Пример: «attention mechanism for image segmentation»</a:t>
            </a:r>
          </a:p>
          <a:p>
            <a:pPr algn="l">
              <a:lnSpc>
                <a:spcPct val="120000"/>
              </a:lnSpc>
            </a:pPr>
            <a:r>
              <a:rPr sz="1700" b="1">
                <a:solidFill>
                  <a:srgbClr val="6366F1"/>
                </a:solidFill>
                <a:latin typeface="Inter"/>
              </a:rPr>
              <a:t>▸  </a:t>
            </a:r>
            <a:r>
              <a:rPr sz="1700">
                <a:solidFill>
                  <a:srgbClr val="E2E8F0"/>
                </a:solidFill>
                <a:latin typeface="Inter"/>
              </a:rPr>
              <a:t>Ответ — топ статей по смысловой близости + score</a:t>
            </a:r>
          </a:p>
          <a:p>
            <a:pPr algn="l">
              <a:lnSpc>
                <a:spcPct val="120000"/>
              </a:lnSpc>
            </a:pPr>
            <a:r>
              <a:rPr sz="1700" b="1">
                <a:solidFill>
                  <a:srgbClr val="6366F1"/>
                </a:solidFill>
                <a:latin typeface="Inter"/>
              </a:rPr>
              <a:t>▸  </a:t>
            </a:r>
            <a:r>
              <a:rPr sz="1700">
                <a:solidFill>
                  <a:srgbClr val="E2E8F0"/>
                </a:solidFill>
                <a:latin typeface="Inter"/>
              </a:rPr>
              <a:t>Аналитика: какие запросы популярны, как растёт корпус по годам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38160" y="1828800"/>
            <a:ext cx="3474720" cy="411480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321040" y="1965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ПРИМЕР ОТВЕТА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321040" y="2331720"/>
            <a:ext cx="32004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E2E8F0"/>
                </a:solidFill>
                <a:latin typeface="Inter"/>
              </a:rPr>
              <a:t>vision transformer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7889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topK = 10 · 42 ms · cached: false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324612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Swin Transformer: Hierarchical…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98480" y="3246120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Inter"/>
              </a:rPr>
              <a:t>0.91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21040" y="374903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ViT for Image Recognition at Scale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698480" y="3749039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Inter"/>
              </a:rPr>
              <a:t>0.88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425195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DeiT: Data-efficient Image…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698480" y="4251959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Inter"/>
              </a:rPr>
              <a:t>0.84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21040" y="4754879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E2E8F0"/>
                </a:solidFill>
                <a:latin typeface="Inter"/>
              </a:rPr>
              <a:t>Tokens-to-Token ViT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0698480" y="4754879"/>
            <a:ext cx="8229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1000" b="1">
                <a:solidFill>
                  <a:srgbClr val="10B981"/>
                </a:solidFill>
                <a:latin typeface="Inter"/>
              </a:rPr>
              <a:t>0.81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ArXiv Semantic Search · NoSQL stack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2 / 14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Inter"/>
              </a:rPr>
              <a:t>ПОЧЕМУ 4 РАЗНЫХ БД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Inter"/>
              </a:rPr>
              <a:t>Polyglot persistence — каждая БД делает то, что умеет лучше всех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9525">
            <a:solidFill>
              <a:srgbClr val="2A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Один тип запросов одна БД делает идеально, остальные — плохо. Поэтому в одном сервисе сосуществуют 4 разных движка: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40080" y="265176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МЕТАДАННЫЕ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1546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2E8F0"/>
                </a:solidFill>
                <a:latin typeface="Inter"/>
              </a:rPr>
              <a:t>MongoDB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37033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Document store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868680" y="4160520"/>
            <a:ext cx="2240280" cy="0"/>
          </a:xfrm>
          <a:prstGeom prst="line">
            <a:avLst/>
          </a:prstGeom>
          <a:ln w="6350">
            <a:solidFill>
              <a:srgbClr val="2A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68680" y="429768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Inter"/>
              </a:rPr>
              <a:t>хранит JSON-объекты статей со
сложной вложенной структурой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474720" y="265176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3703320" y="27889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ВЕКТОРНЫЙ ПОИСК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03320" y="31546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2E8F0"/>
                </a:solidFill>
                <a:latin typeface="Inter"/>
              </a:rPr>
              <a:t>Qdrant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03320" y="37033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Vector DB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3703320" y="4160520"/>
            <a:ext cx="2240280" cy="0"/>
          </a:xfrm>
          <a:prstGeom prst="line">
            <a:avLst/>
          </a:prstGeom>
          <a:ln w="6350">
            <a:solidFill>
              <a:srgbClr val="2A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3703320" y="429768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Inter"/>
              </a:rPr>
              <a:t>ANN-поиск по эмбеддингам,
косинусная близость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309360" y="265176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6537960" y="27889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КЭШ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37960" y="31546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2E8F0"/>
                </a:solidFill>
                <a:latin typeface="Inter"/>
              </a:rPr>
              <a:t>Redis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37960" y="37033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In-memory KV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537960" y="4160520"/>
            <a:ext cx="2240280" cy="0"/>
          </a:xfrm>
          <a:prstGeom prst="line">
            <a:avLst/>
          </a:prstGeom>
          <a:ln w="6350">
            <a:solidFill>
              <a:srgbClr val="2A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TextBox 23"/>
          <p:cNvSpPr txBox="1"/>
          <p:nvPr/>
        </p:nvSpPr>
        <p:spPr>
          <a:xfrm>
            <a:off x="6537960" y="429768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Inter"/>
              </a:rPr>
              <a:t>повторный запрос — ответ
за доли миллисекунды из RAM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144000" y="2651760"/>
            <a:ext cx="2697480" cy="329184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9372600" y="27889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АНАЛИТИКА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72600" y="3154680"/>
            <a:ext cx="224028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1">
                <a:solidFill>
                  <a:srgbClr val="E2E8F0"/>
                </a:solidFill>
                <a:latin typeface="Inter"/>
              </a:rPr>
              <a:t>ClickHouse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72600" y="3703320"/>
            <a:ext cx="22402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Columnar OLAP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9372600" y="4160520"/>
            <a:ext cx="2240280" cy="0"/>
          </a:xfrm>
          <a:prstGeom prst="line">
            <a:avLst/>
          </a:prstGeom>
          <a:ln w="6350">
            <a:solidFill>
              <a:srgbClr val="2A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0" name="TextBox 29"/>
          <p:cNvSpPr txBox="1"/>
          <p:nvPr/>
        </p:nvSpPr>
        <p:spPr>
          <a:xfrm>
            <a:off x="9372600" y="4297680"/>
            <a:ext cx="2240280" cy="1371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Inter"/>
              </a:rPr>
              <a:t>быстрые GROUP BY и агрегации
на логах поисков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ArXiv Semantic Search · NoSQL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3 / 14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Inter"/>
              </a:rPr>
              <a:t>АРХИТЕКТУРА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Inter"/>
              </a:rPr>
              <a:t>Как сервисы связаны между собой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9525">
            <a:solidFill>
              <a:srgbClr val="2A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822960" y="2926080"/>
            <a:ext cx="2011680" cy="91440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22960" y="3090672"/>
            <a:ext cx="201168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2E8F0"/>
                </a:solidFill>
                <a:latin typeface="Inter"/>
              </a:rPr>
              <a:t>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429000"/>
            <a:ext cx="20116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Inter"/>
              </a:rPr>
              <a:t>React + Vite · :5173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2926080"/>
            <a:ext cx="2377440" cy="914400"/>
          </a:xfrm>
          <a:prstGeom prst="roundRect">
            <a:avLst>
              <a:gd name="adj" fmla="val 6000"/>
            </a:avLst>
          </a:prstGeom>
          <a:solidFill>
            <a:srgbClr val="212435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480560" y="3090672"/>
            <a:ext cx="23774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1">
                <a:solidFill>
                  <a:srgbClr val="E2E8F0"/>
                </a:solidFill>
                <a:latin typeface="Inter"/>
              </a:rPr>
              <a:t>Backend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80560" y="3429000"/>
            <a:ext cx="237744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000" b="0">
                <a:solidFill>
                  <a:srgbClr val="94A3B8"/>
                </a:solidFill>
                <a:latin typeface="Inter"/>
              </a:rPr>
              <a:t>FastAPI · :8000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686800" y="1737360"/>
            <a:ext cx="2926080" cy="777240"/>
          </a:xfrm>
          <a:prstGeom prst="roundRect">
            <a:avLst>
              <a:gd name="adj" fmla="val 6000"/>
            </a:avLst>
          </a:prstGeom>
          <a:solidFill>
            <a:srgbClr val="104E35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8869680" y="184708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Inter"/>
              </a:rPr>
              <a:t>MongoDB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69680" y="2139696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метаданные :27017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686800" y="2651760"/>
            <a:ext cx="2926080" cy="777240"/>
          </a:xfrm>
          <a:prstGeom prst="roundRect">
            <a:avLst>
              <a:gd name="adj" fmla="val 6000"/>
            </a:avLst>
          </a:prstGeom>
          <a:solidFill>
            <a:srgbClr val="3B2A6B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8869680" y="276148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Inter"/>
              </a:rPr>
              <a:t>Qdrant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69680" y="3054096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векторы :6333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686800" y="3566160"/>
            <a:ext cx="2926080" cy="777240"/>
          </a:xfrm>
          <a:prstGeom prst="roundRect">
            <a:avLst>
              <a:gd name="adj" fmla="val 6000"/>
            </a:avLst>
          </a:prstGeom>
          <a:solidFill>
            <a:srgbClr val="6B1F1F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8869680" y="367588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Inter"/>
              </a:rPr>
              <a:t>Redis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69680" y="3968496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кэш :6379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686800" y="4480560"/>
            <a:ext cx="2926080" cy="777240"/>
          </a:xfrm>
          <a:prstGeom prst="roundRect">
            <a:avLst>
              <a:gd name="adj" fmla="val 6000"/>
            </a:avLst>
          </a:prstGeom>
          <a:solidFill>
            <a:srgbClr val="6B4F1F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2" name="TextBox 21"/>
          <p:cNvSpPr txBox="1"/>
          <p:nvPr/>
        </p:nvSpPr>
        <p:spPr>
          <a:xfrm>
            <a:off x="8869680" y="4590288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E2E8F0"/>
                </a:solidFill>
                <a:latin typeface="Inter"/>
              </a:rPr>
              <a:t>ClickHouse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69680" y="4882896"/>
            <a:ext cx="292608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0">
                <a:solidFill>
                  <a:srgbClr val="94A3B8"/>
                </a:solidFill>
                <a:latin typeface="Inter"/>
              </a:rPr>
              <a:t>OLAP :8123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2834640" y="3383280"/>
            <a:ext cx="1645920" cy="0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6858000" y="2121408"/>
            <a:ext cx="1828800" cy="1261872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6858000" y="3035808"/>
            <a:ext cx="1828800" cy="347472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6858000" y="3383280"/>
            <a:ext cx="1828800" cy="566928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858000" y="3383280"/>
            <a:ext cx="1828800" cy="1481328"/>
          </a:xfrm>
          <a:prstGeom prst="line">
            <a:avLst/>
          </a:prstGeom>
          <a:ln w="19050">
            <a:solidFill>
              <a:srgbClr val="6366F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640080" y="5120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На каждый запрос /api/search бэк ходит во все 4 БД (по очереди / параллельно).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Развёртывание: один docker compose up — 6 контейнеров с healthcheck-зависимостями.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ArXiv Semantic Search · NoSQL stack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4 / 14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Inter"/>
              </a:rPr>
              <a:t>БД 1/4 ·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Inter"/>
              </a:rPr>
              <a:t>MongoDB — что это и как устроено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9525">
            <a:solidFill>
              <a:srgbClr val="2A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Документная NoSQL БД. Хранит JSON-подобные объекты (BSON) вместо строк таблицы.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Без жёсткой схемы — каждый документ может иметь свой набор полей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Удобно для сущностей с массивами и вложенными объектами (authors[], categories[])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Запросы на JSON-подобном языке: find, aggregate (pipeline)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Индексы B-tree на полях, как в SQL — быстрый lookup по arxiv_id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Горизонтально масштабируется через шардинг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474720" cy="420624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21040" y="1965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ВНУТРЕННЕЕ УСТРОЙСТВО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331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Inter"/>
              </a:rPr>
              <a:t>BSON + B-tree индексы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8892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Inter"/>
              </a:rPr>
              <a:t>Документы хранятся в формате BSON (binary JSON).
Для каждого индекса MongoDB строит B-tree по значениям поля.
Поиск по индексированному полю — O(log n), как в реляционных БД.
Aggregation pipeline — последовательность стадий ($match, $group, $sort) над коллекцией, аналог SQL GROUP BY с гибкой композицией.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ArXiv Semantic Search · NoSQL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5 / 14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Inter"/>
              </a:rPr>
              <a:t>БД 1/4 · MONGODB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Inter"/>
              </a:rPr>
              <a:t>MongoDB — как использовано в проекте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9525">
            <a:solidFill>
              <a:srgbClr val="2A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Коллекция articles в БД arxiv. Полные метаданные статьи + индекс на arxiv_id.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Inter"/>
              </a:rPr>
              <a:t>▸  </a:t>
            </a:r>
            <a:r>
              <a:rPr sz="1400">
                <a:solidFill>
                  <a:srgbClr val="E2E8F0"/>
                </a:solidFill>
                <a:latin typeface="Inter"/>
              </a:rPr>
              <a:t>Загрузка — bulk_write с upsert по arxiv_id (идемпотентно)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Inter"/>
              </a:rPr>
              <a:t>▸  </a:t>
            </a:r>
            <a:r>
              <a:rPr sz="1400">
                <a:solidFill>
                  <a:srgbClr val="E2E8F0"/>
                </a:solidFill>
                <a:latin typeface="Inter"/>
              </a:rPr>
              <a:t>Поиск — find({arxiv_id: {$in: [...]}}), результат top-K из Qdrant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Inter"/>
              </a:rPr>
              <a:t>▸  </a:t>
            </a:r>
            <a:r>
              <a:rPr sz="1400">
                <a:solidFill>
                  <a:srgbClr val="E2E8F0"/>
                </a:solidFill>
                <a:latin typeface="Inter"/>
              </a:rPr>
              <a:t>Аналитика по годам и категориям — aggregation pipeline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Inter"/>
              </a:rPr>
              <a:t>▸  </a:t>
            </a:r>
            <a:r>
              <a:rPr sz="1400">
                <a:solidFill>
                  <a:srgbClr val="E2E8F0"/>
                </a:solidFill>
                <a:latin typeface="Inter"/>
              </a:rPr>
              <a:t>Один индекс delivers быстрый lookup, второй — диапазон по годам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468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ДОКУМЕНТ + ЗАПРОС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788920"/>
            <a:ext cx="4846320" cy="3383280"/>
          </a:xfrm>
          <a:prstGeom prst="roundRect">
            <a:avLst>
              <a:gd name="adj" fmla="val 6000"/>
            </a:avLst>
          </a:prstGeom>
          <a:solidFill>
            <a:srgbClr val="101218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0" y="2926080"/>
            <a:ext cx="44805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// один документ в коллекции articles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{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"arxiv_id":   "2301.00001",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"title":      "Attention Is All You Need",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"authors":    ["A. Vaswani", "N. Shazeer"],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"year":       2017,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"categories": ["cs.LG", "cs.CL"],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"abstract":   "..."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}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// агрегация по годам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db.articles.aggregate([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{ $group: { _id: "$year", count: { $sum: 1 } } },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{ $sort:  { _id: 1 } }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])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ArXiv Semantic Search · NoSQL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6 / 14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Inter"/>
              </a:rPr>
              <a:t>БД 2/4 · QDRANT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Inter"/>
              </a:rPr>
              <a:t>Qdrant — что это и как устроено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9525">
            <a:solidFill>
              <a:srgbClr val="2A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Векторная БД. Хранит точки в N-мерном пространстве и ищет ближайшие соседи.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Каждая запись = вектор + payload (метаданные)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Эмбеддинг текста: модель преобразует абстракт в 384-мерный вектор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Похожие по смыслу тексты → близкие точки в пространстве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Метрика — cosine similarity (угол между векторами)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Точный k-NN на миллионах точек слишком медленный → ANN-индекс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474720" cy="420624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21040" y="1965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ВНУТРЕННЕЕ УСТРОЙСТВО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331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Inter"/>
              </a:rPr>
              <a:t>HNSW (Hierarchical NSW)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8892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Inter"/>
              </a:rPr>
              <a:t>Hierarchical Navigable Small World — алгоритм approximate nearest neighbor.
Многоуровневый граф: верхние слои разрежены и ускоряют переход к нужной области, нижние — плотные для точного поиска.
Поиск ~ O(log n) с очень высокой recall (&gt;0.95 при правильных параметрах).
Trade-off: память на индекс vs скорость поиска.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ArXiv Semantic Search · NoSQL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7 / 14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Inter"/>
              </a:rPr>
              <a:t>БД 2/4 · QDRANT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Inter"/>
              </a:rPr>
              <a:t>Qdrant — как использовано в проекте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9525">
            <a:solidFill>
              <a:srgbClr val="2A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Коллекция arxiv: точки с 384-мерными векторами абстрактов и payload {arxiv_id, title, year, categories}.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Inter"/>
              </a:rPr>
              <a:t>▸  </a:t>
            </a:r>
            <a:r>
              <a:rPr sz="1400">
                <a:solidFill>
                  <a:srgbClr val="E2E8F0"/>
                </a:solidFill>
                <a:latin typeface="Inter"/>
              </a:rPr>
              <a:t>При загрузке — encode(abstract) → upsert PointStruct в коллекцию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Inter"/>
              </a:rPr>
              <a:t>▸  </a:t>
            </a:r>
            <a:r>
              <a:rPr sz="1400">
                <a:solidFill>
                  <a:srgbClr val="E2E8F0"/>
                </a:solidFill>
                <a:latin typeface="Inter"/>
              </a:rPr>
              <a:t>При поиске — encode(query) → search(vector, limit=10)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Inter"/>
              </a:rPr>
              <a:t>▸  </a:t>
            </a:r>
            <a:r>
              <a:rPr sz="1400">
                <a:solidFill>
                  <a:srgbClr val="E2E8F0"/>
                </a:solidFill>
                <a:latin typeface="Inter"/>
              </a:rPr>
              <a:t>Ответ Qdrant: список (id, score, payload) — сразу есть arxiv_id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Inter"/>
              </a:rPr>
              <a:t>▸  </a:t>
            </a:r>
            <a:r>
              <a:rPr sz="1400">
                <a:solidFill>
                  <a:srgbClr val="E2E8F0"/>
                </a:solidFill>
                <a:latin typeface="Inter"/>
              </a:rPr>
              <a:t>Метрика Cosine, нормализуем эмбеддинги (normalize_embeddings=True)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468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СОЗДАНИЕ И ПОИСК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788920"/>
            <a:ext cx="4846320" cy="3383280"/>
          </a:xfrm>
          <a:prstGeom prst="roundRect">
            <a:avLst>
              <a:gd name="adj" fmla="val 6000"/>
            </a:avLst>
          </a:prstGeom>
          <a:solidFill>
            <a:srgbClr val="101218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0" y="2926080"/>
            <a:ext cx="44805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# один раз на старте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client.create_collection(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collection_name="arxiv",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vectors_config=VectorParams(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    size=384, distance=Distance.COSINE,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),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# поисковый запрос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vec = model.encode(query, normalize_embeddings=True)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hits = client.search(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collection_name="arxiv",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query_vector=vec.tolist(),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limit=10, with_payload=True,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ArXiv Semantic Search · NoSQL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8 / 14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Inter"/>
              </a:rPr>
              <a:t>БД 3/4 · REDIS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Inter"/>
              </a:rPr>
              <a:t>Redis — что это и как устроено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9525">
            <a:solidFill>
              <a:srgbClr val="2A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In-memory key-value хранилище. Всё в RAM, поэтому миллионы операций в секунду.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Структуры: строки, хеши, списки, множества, sorted sets, streams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Однопоточный event loop — нет конкуренции на структурах данных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TTL: ключ автоматически удаляется через N секунд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Опциональная персистентность (RDB / AOF), но это не основной use-case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Типичные роли: кэш, очередь, rate limiter, sessions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474720" cy="420624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21040" y="1965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ВНУТРЕННЕЕ УСТРОЙСТВО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331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Inter"/>
              </a:rPr>
              <a:t>Hash table + TTL bucket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8892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Inter"/>
              </a:rPr>
              <a:t>Все ключи лежат в большой hash table в RAM.
Чтение/запись — O(1) для строк, амортизированно.
TTL хранится отдельно. Ленивое удаление при доступе + фоновый sweep случайных ключей с истёкшим временем.
Для нашего сценария важно: ответ из RAM в десятки раз быстрее, чем повторный полный путь embed → ANN → mongo.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ArXiv Semantic Search · NoSQL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9 / 14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Inter"/>
              </a:rPr>
              <a:t>БД 3/4 · REDIS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Inter"/>
              </a:rPr>
              <a:t>Redis — как использовано в проекте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9525">
            <a:solidFill>
              <a:srgbClr val="2A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Кэш ответов /api/search. Ключ — нормализованный текст запроса, значение — JSON ответа.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Inter"/>
              </a:rPr>
              <a:t>▸  </a:t>
            </a:r>
            <a:r>
              <a:rPr sz="1400">
                <a:solidFill>
                  <a:srgbClr val="E2E8F0"/>
                </a:solidFill>
                <a:latin typeface="Inter"/>
              </a:rPr>
              <a:t>Ключ: search:{query.lower().strip()} — нормализуем перед хешем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Inter"/>
              </a:rPr>
              <a:t>▸  </a:t>
            </a:r>
            <a:r>
              <a:rPr sz="1400">
                <a:solidFill>
                  <a:srgbClr val="E2E8F0"/>
                </a:solidFill>
                <a:latin typeface="Inter"/>
              </a:rPr>
              <a:t>Значение: сериализованный JSON-payload результата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Inter"/>
              </a:rPr>
              <a:t>▸  </a:t>
            </a:r>
            <a:r>
              <a:rPr sz="1400">
                <a:solidFill>
                  <a:srgbClr val="E2E8F0"/>
                </a:solidFill>
                <a:latin typeface="Inter"/>
              </a:rPr>
              <a:t>TTL = 1 час (SETEX) — данные слабо меняются, кэш можно держать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Inter"/>
              </a:rPr>
              <a:t>▸  </a:t>
            </a:r>
            <a:r>
              <a:rPr sz="1400">
                <a:solidFill>
                  <a:srgbClr val="E2E8F0"/>
                </a:solidFill>
                <a:latin typeface="Inter"/>
              </a:rPr>
              <a:t>На каждом /search сначала GET, при промахе — основная логика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Inter"/>
              </a:rPr>
              <a:t>▸  </a:t>
            </a:r>
            <a:r>
              <a:rPr sz="1400">
                <a:solidFill>
                  <a:srgbClr val="E2E8F0"/>
                </a:solidFill>
                <a:latin typeface="Inter"/>
              </a:rPr>
              <a:t>Хит сокращает latency с ~50 мс до ~3 мс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468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ЛОГИКА КЭША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788920"/>
            <a:ext cx="4846320" cy="3383280"/>
          </a:xfrm>
          <a:prstGeom prst="roundRect">
            <a:avLst>
              <a:gd name="adj" fmla="val 6000"/>
            </a:avLst>
          </a:prstGeom>
          <a:solidFill>
            <a:srgbClr val="101218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0" y="2926080"/>
            <a:ext cx="44805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def get_cached(query: str):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key = f"search:{normalize(query)}"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raw = r.get(key)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return json.loads(raw) if raw else None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def set_cached(query, payload):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key = f"search:{normalize(query)}"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r.setex(key, 3600, json.dumps(payload))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# в обработчике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if cached := get_cached(q):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return {**cached, "cached": True}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ArXiv Semantic Search · NoSQL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10 / 14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Inter"/>
              </a:rPr>
              <a:t>БД 4/4 · CLICKHOUSE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Inter"/>
              </a:rPr>
              <a:t>ClickHouse — что это и как устроено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9525">
            <a:solidFill>
              <a:srgbClr val="2A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73152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Колоночная OLAP-СУБД. Заточена под аналитические запросы по миллиардам строк.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6858000" cy="36576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Хранит данные по колонкам, а не по строкам — читаем только нужные поля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Высокое сжатие (LZ4/ZSTD) — однотипные значения в колонке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Векторизованное выполнение запросов (SIMD)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Стандартный SQL + расширения (массивы, semi-structured)</a:t>
            </a:r>
          </a:p>
          <a:p>
            <a:pPr algn="l">
              <a:lnSpc>
                <a:spcPct val="120000"/>
              </a:lnSpc>
            </a:pPr>
            <a:r>
              <a:rPr sz="1500" b="1">
                <a:solidFill>
                  <a:srgbClr val="6366F1"/>
                </a:solidFill>
                <a:latin typeface="Inter"/>
              </a:rPr>
              <a:t>▸  </a:t>
            </a:r>
            <a:r>
              <a:rPr sz="1500">
                <a:solidFill>
                  <a:srgbClr val="E2E8F0"/>
                </a:solidFill>
                <a:latin typeface="Inter"/>
              </a:rPr>
              <a:t>Оптимизирована под INSERT-batch и SELECT-aggregate, не под точечные UPDATE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138160" y="1828800"/>
            <a:ext cx="3474720" cy="4206240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8321040" y="196596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ВНУТРЕННЕЕ УСТРОЙСТВО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321040" y="2331720"/>
            <a:ext cx="32004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Inter"/>
              </a:rPr>
              <a:t>MergeTree engine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321040" y="2788920"/>
            <a:ext cx="3200400" cy="3200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Inter"/>
              </a:rPr>
              <a:t>Семейство движков MergeTree — основа ClickHouse.
Данные пишутся в неизменяемые «парты» (parts), отсортированные по ORDER BY ключу.
Фоновое слияние (merge) объединяет мелкие парты в крупные → поддерживает компактность и скорость чтения.
На SELECT движок читает только нужные колонки и пропускает блоки по индексу разрежённой сортировки (sparse primary index).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ArXiv Semantic Search · NoSQL stack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11 / 14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Inter"/>
              </a:rPr>
              <a:t>БД 4/4 · CLICKHOUSE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Inter"/>
              </a:rPr>
              <a:t>ClickHouse — как использовано в проекте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9525">
            <a:solidFill>
              <a:srgbClr val="2A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28800"/>
            <a:ext cx="109728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94A3B8"/>
                </a:solidFill>
                <a:latin typeface="Inter"/>
              </a:rPr>
              <a:t>Таблица search_logs хранит каждый поисковый запрос. Источник данных для дашборда аналитики.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468880"/>
            <a:ext cx="5760720" cy="411480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Inter"/>
              </a:rPr>
              <a:t>▸  </a:t>
            </a:r>
            <a:r>
              <a:rPr sz="1400">
                <a:solidFill>
                  <a:srgbClr val="E2E8F0"/>
                </a:solidFill>
                <a:latin typeface="Inter"/>
              </a:rPr>
              <a:t>Каждый /search → INSERT в search_logs (query, results_count, timestamp)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Inter"/>
              </a:rPr>
              <a:t>▸  </a:t>
            </a:r>
            <a:r>
              <a:rPr sz="1400">
                <a:solidFill>
                  <a:srgbClr val="E2E8F0"/>
                </a:solidFill>
                <a:latin typeface="Inter"/>
              </a:rPr>
              <a:t>Топ-10 запросов: GROUP BY query ORDER BY count() DESC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Inter"/>
              </a:rPr>
              <a:t>▸  </a:t>
            </a:r>
            <a:r>
              <a:rPr sz="1400">
                <a:solidFill>
                  <a:srgbClr val="E2E8F0"/>
                </a:solidFill>
                <a:latin typeface="Inter"/>
              </a:rPr>
              <a:t>Активность по дням / общее число поисков — toDate(timestamp), count()</a:t>
            </a:r>
          </a:p>
          <a:p>
            <a:pPr algn="l">
              <a:lnSpc>
                <a:spcPct val="120000"/>
              </a:lnSpc>
            </a:pPr>
            <a:r>
              <a:rPr sz="1400" b="1">
                <a:solidFill>
                  <a:srgbClr val="6366F1"/>
                </a:solidFill>
                <a:latin typeface="Inter"/>
              </a:rPr>
              <a:t>▸  </a:t>
            </a:r>
            <a:r>
              <a:rPr sz="1400">
                <a:solidFill>
                  <a:srgbClr val="E2E8F0"/>
                </a:solidFill>
                <a:latin typeface="Inter"/>
              </a:rPr>
              <a:t>На фронте таб Analytics дёргает /api/stats, бэк делает SQL в ClickHouse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766560" y="2468880"/>
            <a:ext cx="5029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ТАБЛИЦА И ЗАПРОСЫ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766560" y="2788920"/>
            <a:ext cx="4846320" cy="3383280"/>
          </a:xfrm>
          <a:prstGeom prst="roundRect">
            <a:avLst>
              <a:gd name="adj" fmla="val 6000"/>
            </a:avLst>
          </a:prstGeom>
          <a:solidFill>
            <a:srgbClr val="101218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6949440" y="2926080"/>
            <a:ext cx="4480560" cy="310896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CREATE TABLE search_logs (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query         String,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results_count UInt32,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    timestamp     DateTime DEFAULT now()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) ENGINE = MergeTree()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ORDER BY timestamp;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/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-- top queries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SELECT query, count() AS cnt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FROM search_logs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GROUP BY query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ORDER BY cnt DESC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CBD5E1"/>
                </a:solidFill>
                <a:latin typeface="JetBrains Mono"/>
              </a:rPr>
              <a:t>LIMIT 10;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ArXiv Semantic Search · NoSQL stack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12 / 14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Inter"/>
              </a:rPr>
              <a:t>END-TO-END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Inter"/>
              </a:rPr>
              <a:t>Полный путь одного запроса /api/search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9525">
            <a:solidFill>
              <a:srgbClr val="2A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640080" y="1920240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188720" y="1828800"/>
            <a:ext cx="10424160" cy="566928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Rounded Rectangle 7"/>
          <p:cNvSpPr/>
          <p:nvPr/>
        </p:nvSpPr>
        <p:spPr>
          <a:xfrm>
            <a:off x="1371600" y="1984248"/>
            <a:ext cx="1152143" cy="292608"/>
          </a:xfrm>
          <a:prstGeom prst="roundRect">
            <a:avLst>
              <a:gd name="adj" fmla="val 50000"/>
            </a:avLst>
          </a:prstGeom>
          <a:solidFill>
            <a:srgbClr val="6B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54864" bIns="54864"/>
          <a:lstStyle/>
          <a:p>
            <a:pPr algn="ctr"/>
            <a:r>
              <a:rPr sz="1000" b="1">
                <a:solidFill>
                  <a:srgbClr val="E2E8F0"/>
                </a:solidFill>
                <a:latin typeface="Inter"/>
              </a:rPr>
              <a:t>Redis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706623" y="1965960"/>
            <a:ext cx="5029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JetBrains Mono"/>
              </a:rPr>
              <a:t>GET search:{query}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19933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промах → идём дальше</a:t>
            </a:r>
          </a:p>
        </p:txBody>
      </p:sp>
      <p:sp>
        <p:nvSpPr>
          <p:cNvPr id="11" name="Oval 10"/>
          <p:cNvSpPr/>
          <p:nvPr/>
        </p:nvSpPr>
        <p:spPr>
          <a:xfrm>
            <a:off x="640080" y="2560320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1188720" y="2468880"/>
            <a:ext cx="10424160" cy="566928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Rounded Rectangle 12"/>
          <p:cNvSpPr/>
          <p:nvPr/>
        </p:nvSpPr>
        <p:spPr>
          <a:xfrm>
            <a:off x="1371600" y="2624328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21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54864" bIns="54864"/>
          <a:lstStyle/>
          <a:p>
            <a:pPr algn="ctr"/>
            <a:r>
              <a:rPr sz="1000" b="1">
                <a:solidFill>
                  <a:srgbClr val="E2E8F0"/>
                </a:solidFill>
                <a:latin typeface="Inter"/>
              </a:rPr>
              <a:t>Encoder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035808" y="2606040"/>
            <a:ext cx="5029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JetBrains Mono"/>
              </a:rPr>
              <a:t>embed(query) → 384-dim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0" y="263347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all-MiniLM-L6-v2</a:t>
            </a:r>
          </a:p>
        </p:txBody>
      </p:sp>
      <p:sp>
        <p:nvSpPr>
          <p:cNvPr id="16" name="Oval 15"/>
          <p:cNvSpPr/>
          <p:nvPr/>
        </p:nvSpPr>
        <p:spPr>
          <a:xfrm>
            <a:off x="640080" y="3200400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188720" y="3108960"/>
            <a:ext cx="10424160" cy="566928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Rounded Rectangle 17"/>
          <p:cNvSpPr/>
          <p:nvPr/>
        </p:nvSpPr>
        <p:spPr>
          <a:xfrm>
            <a:off x="1371600" y="3264408"/>
            <a:ext cx="1316736" cy="292608"/>
          </a:xfrm>
          <a:prstGeom prst="roundRect">
            <a:avLst>
              <a:gd name="adj" fmla="val 50000"/>
            </a:avLst>
          </a:prstGeom>
          <a:solidFill>
            <a:srgbClr val="3B2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54864" bIns="54864"/>
          <a:lstStyle/>
          <a:p>
            <a:pPr algn="ctr"/>
            <a:r>
              <a:rPr sz="1000" b="1">
                <a:solidFill>
                  <a:srgbClr val="E2E8F0"/>
                </a:solidFill>
                <a:latin typeface="Inter"/>
              </a:rPr>
              <a:t>Qdrant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871216" y="3246120"/>
            <a:ext cx="5029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JetBrains Mono"/>
              </a:rPr>
              <a:t>ANN top-K по cosine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0" y="327355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→ список arxiv_id + score</a:t>
            </a:r>
          </a:p>
        </p:txBody>
      </p:sp>
      <p:sp>
        <p:nvSpPr>
          <p:cNvPr id="21" name="Oval 20"/>
          <p:cNvSpPr/>
          <p:nvPr/>
        </p:nvSpPr>
        <p:spPr>
          <a:xfrm>
            <a:off x="640080" y="3840480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188720" y="3749040"/>
            <a:ext cx="10424160" cy="566928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Rounded Rectangle 22"/>
          <p:cNvSpPr/>
          <p:nvPr/>
        </p:nvSpPr>
        <p:spPr>
          <a:xfrm>
            <a:off x="1371600" y="3904488"/>
            <a:ext cx="1481328" cy="292608"/>
          </a:xfrm>
          <a:prstGeom prst="roundRect">
            <a:avLst>
              <a:gd name="adj" fmla="val 50000"/>
            </a:avLst>
          </a:prstGeom>
          <a:solidFill>
            <a:srgbClr val="104E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54864" bIns="54864"/>
          <a:lstStyle/>
          <a:p>
            <a:pPr algn="ctr"/>
            <a:r>
              <a:rPr sz="1000" b="1">
                <a:solidFill>
                  <a:srgbClr val="E2E8F0"/>
                </a:solidFill>
                <a:latin typeface="Inter"/>
              </a:rPr>
              <a:t>MongoDB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035808" y="3886200"/>
            <a:ext cx="5029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JetBrains Mono"/>
              </a:rPr>
              <a:t>find({arxiv_id: {$in:[…]}})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0" y="391363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достаём метаданные</a:t>
            </a:r>
          </a:p>
        </p:txBody>
      </p:sp>
      <p:sp>
        <p:nvSpPr>
          <p:cNvPr id="26" name="Oval 25"/>
          <p:cNvSpPr/>
          <p:nvPr/>
        </p:nvSpPr>
        <p:spPr>
          <a:xfrm>
            <a:off x="640080" y="4480560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5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1188720" y="4389120"/>
            <a:ext cx="10424160" cy="566928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8" name="Rounded Rectangle 27"/>
          <p:cNvSpPr/>
          <p:nvPr/>
        </p:nvSpPr>
        <p:spPr>
          <a:xfrm>
            <a:off x="1371600" y="4544568"/>
            <a:ext cx="1152143" cy="292608"/>
          </a:xfrm>
          <a:prstGeom prst="roundRect">
            <a:avLst>
              <a:gd name="adj" fmla="val 50000"/>
            </a:avLst>
          </a:prstGeom>
          <a:solidFill>
            <a:srgbClr val="6B1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54864" bIns="54864"/>
          <a:lstStyle/>
          <a:p>
            <a:pPr algn="ctr"/>
            <a:r>
              <a:rPr sz="1000" b="1">
                <a:solidFill>
                  <a:srgbClr val="E2E8F0"/>
                </a:solidFill>
                <a:latin typeface="Inter"/>
              </a:rPr>
              <a:t>Redis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2706623" y="4526280"/>
            <a:ext cx="5029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JetBrains Mono"/>
              </a:rPr>
              <a:t>SETEX 3600 JSON(payload)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315200" y="455371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кладём в кэш на час</a:t>
            </a:r>
          </a:p>
        </p:txBody>
      </p:sp>
      <p:sp>
        <p:nvSpPr>
          <p:cNvPr id="31" name="Oval 30"/>
          <p:cNvSpPr/>
          <p:nvPr/>
        </p:nvSpPr>
        <p:spPr>
          <a:xfrm>
            <a:off x="640080" y="5120640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6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1188720" y="5029200"/>
            <a:ext cx="10424160" cy="566928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Rounded Rectangle 32"/>
          <p:cNvSpPr/>
          <p:nvPr/>
        </p:nvSpPr>
        <p:spPr>
          <a:xfrm>
            <a:off x="1371600" y="5184648"/>
            <a:ext cx="1975103" cy="292608"/>
          </a:xfrm>
          <a:prstGeom prst="roundRect">
            <a:avLst>
              <a:gd name="adj" fmla="val 50000"/>
            </a:avLst>
          </a:prstGeom>
          <a:solidFill>
            <a:srgbClr val="6B4F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54864" bIns="54864"/>
          <a:lstStyle/>
          <a:p>
            <a:pPr algn="ctr"/>
            <a:r>
              <a:rPr sz="1000" b="1">
                <a:solidFill>
                  <a:srgbClr val="E2E8F0"/>
                </a:solidFill>
                <a:latin typeface="Inter"/>
              </a:rPr>
              <a:t>ClickHouse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529583" y="5166360"/>
            <a:ext cx="5029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JetBrains Mono"/>
              </a:rPr>
              <a:t>INSERT INTO search_logs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0" y="519379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лог запроса для аналитики</a:t>
            </a:r>
          </a:p>
        </p:txBody>
      </p:sp>
      <p:sp>
        <p:nvSpPr>
          <p:cNvPr id="36" name="Oval 35"/>
          <p:cNvSpPr/>
          <p:nvPr/>
        </p:nvSpPr>
        <p:spPr>
          <a:xfrm>
            <a:off x="640080" y="5760720"/>
            <a:ext cx="384048" cy="384048"/>
          </a:xfrm>
          <a:prstGeom prst="ellipse">
            <a:avLst/>
          </a:prstGeom>
          <a:solidFill>
            <a:srgbClr val="6366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FFFFFF"/>
                </a:solidFill>
                <a:latin typeface="Inter"/>
              </a:rPr>
              <a:t>7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1188720" y="5669280"/>
            <a:ext cx="10424160" cy="566928"/>
          </a:xfrm>
          <a:prstGeom prst="roundRect">
            <a:avLst>
              <a:gd name="adj" fmla="val 6000"/>
            </a:avLst>
          </a:prstGeom>
          <a:solidFill>
            <a:srgbClr val="1A1D27"/>
          </a:solidFill>
          <a:ln w="9525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8" name="Rounded Rectangle 37"/>
          <p:cNvSpPr/>
          <p:nvPr/>
        </p:nvSpPr>
        <p:spPr>
          <a:xfrm>
            <a:off x="1371600" y="5824728"/>
            <a:ext cx="1645919" cy="292608"/>
          </a:xfrm>
          <a:prstGeom prst="roundRect">
            <a:avLst>
              <a:gd name="adj" fmla="val 50000"/>
            </a:avLst>
          </a:prstGeom>
          <a:solidFill>
            <a:srgbClr val="21243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64592" rIns="164592" tIns="54864" bIns="54864"/>
          <a:lstStyle/>
          <a:p>
            <a:pPr algn="ctr"/>
            <a:r>
              <a:rPr sz="1000" b="1">
                <a:solidFill>
                  <a:srgbClr val="E2E8F0"/>
                </a:solidFill>
                <a:latin typeface="Inter"/>
              </a:rPr>
              <a:t>Response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200399" y="5806440"/>
            <a:ext cx="5029200" cy="36576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r>
              <a:rPr sz="1100">
                <a:solidFill>
                  <a:srgbClr val="E2E8F0"/>
                </a:solidFill>
                <a:latin typeface="JetBrains Mono"/>
              </a:rPr>
              <a:t>JSON → клиент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0" y="5833872"/>
            <a:ext cx="4114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  <a:latin typeface="Inter"/>
              </a:rPr>
              <a:t>результат + query_time_ms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40080" y="626364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Кэш-хит:  шаги 1 → 6 → 7  (≈ 5 ms).  Полный путь:  ≈ 40-80 ms на тёплой модели.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ArXiv Semantic Search · NoSQL stack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13 / 14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Inter"/>
              </a:rPr>
              <a:t>ИТОГ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Inter"/>
              </a:rPr>
              <a:t>Сравнение всех четырёх БД в проекте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9525">
            <a:solidFill>
              <a:srgbClr val="2A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ectangle 5"/>
          <p:cNvSpPr/>
          <p:nvPr/>
        </p:nvSpPr>
        <p:spPr>
          <a:xfrm>
            <a:off x="640080" y="1920240"/>
            <a:ext cx="155448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039112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БД</a:t>
            </a:r>
          </a:p>
        </p:txBody>
      </p:sp>
      <p:sp>
        <p:nvSpPr>
          <p:cNvPr id="8" name="Rectangle 7"/>
          <p:cNvSpPr/>
          <p:nvPr/>
        </p:nvSpPr>
        <p:spPr>
          <a:xfrm>
            <a:off x="2194560" y="1920240"/>
            <a:ext cx="146304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2331720" y="2039112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ТИП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0" y="1920240"/>
            <a:ext cx="237744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3794760" y="2039112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МОДЕЛЬ ДАННЫХ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035040" y="1920240"/>
            <a:ext cx="256032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6172200" y="2039112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РОЛЬ В ПРОЕКТЕ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595360" y="1920240"/>
            <a:ext cx="3017520" cy="502920"/>
          </a:xfrm>
          <a:prstGeom prst="rect">
            <a:avLst/>
          </a:prstGeom>
          <a:solidFill>
            <a:srgbClr val="1A1D27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732520" y="2039112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000" b="1">
                <a:solidFill>
                  <a:srgbClr val="6366F1"/>
                </a:solidFill>
                <a:latin typeface="Inter"/>
              </a:rPr>
              <a:t>КЛЮЧЕВАЯ ОПЕРАЦИЯ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40080" y="2423160"/>
            <a:ext cx="1554480" cy="502920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7" name="TextBox 16"/>
          <p:cNvSpPr txBox="1"/>
          <p:nvPr/>
        </p:nvSpPr>
        <p:spPr>
          <a:xfrm>
            <a:off x="777240" y="256946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Inter"/>
              </a:rPr>
              <a:t>MongoDB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194560" y="2423160"/>
            <a:ext cx="1463040" cy="502920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2331720" y="256946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Inter"/>
              </a:rPr>
              <a:t>Document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3657600" y="2423160"/>
            <a:ext cx="2377440" cy="502920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3794760" y="256946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Inter"/>
              </a:rPr>
              <a:t>BSON-документы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035040" y="2423160"/>
            <a:ext cx="2560320" cy="502920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6172200" y="256946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Inter"/>
              </a:rPr>
              <a:t>Метаданные статей</a:t>
            </a:r>
          </a:p>
        </p:txBody>
      </p:sp>
      <p:sp>
        <p:nvSpPr>
          <p:cNvPr id="24" name="Rectangle 23"/>
          <p:cNvSpPr/>
          <p:nvPr/>
        </p:nvSpPr>
        <p:spPr>
          <a:xfrm>
            <a:off x="8595360" y="2423160"/>
            <a:ext cx="3017520" cy="502920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8732520" y="256946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JetBrains Mono"/>
              </a:rPr>
              <a:t>find({arxiv_id: {$in: …}})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40080" y="2926080"/>
            <a:ext cx="1554480" cy="502920"/>
          </a:xfrm>
          <a:prstGeom prst="rect">
            <a:avLst/>
          </a:prstGeom>
          <a:solidFill>
            <a:srgbClr val="14161E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7" name="TextBox 26"/>
          <p:cNvSpPr txBox="1"/>
          <p:nvPr/>
        </p:nvSpPr>
        <p:spPr>
          <a:xfrm>
            <a:off x="777240" y="307238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Inter"/>
              </a:rPr>
              <a:t>Qdrant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94560" y="2926080"/>
            <a:ext cx="1463040" cy="502920"/>
          </a:xfrm>
          <a:prstGeom prst="rect">
            <a:avLst/>
          </a:prstGeom>
          <a:solidFill>
            <a:srgbClr val="14161E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2331720" y="307238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Inter"/>
              </a:rPr>
              <a:t>Vector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657600" y="2926080"/>
            <a:ext cx="2377440" cy="502920"/>
          </a:xfrm>
          <a:prstGeom prst="rect">
            <a:avLst/>
          </a:prstGeom>
          <a:solidFill>
            <a:srgbClr val="14161E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1" name="TextBox 30"/>
          <p:cNvSpPr txBox="1"/>
          <p:nvPr/>
        </p:nvSpPr>
        <p:spPr>
          <a:xfrm>
            <a:off x="3794760" y="307238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Inter"/>
              </a:rPr>
              <a:t>Точки + 384-d векторы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035040" y="2926080"/>
            <a:ext cx="2560320" cy="502920"/>
          </a:xfrm>
          <a:prstGeom prst="rect">
            <a:avLst/>
          </a:prstGeom>
          <a:solidFill>
            <a:srgbClr val="14161E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3" name="TextBox 32"/>
          <p:cNvSpPr txBox="1"/>
          <p:nvPr/>
        </p:nvSpPr>
        <p:spPr>
          <a:xfrm>
            <a:off x="6172200" y="307238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Inter"/>
              </a:rPr>
              <a:t>Семантический поиск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595360" y="2926080"/>
            <a:ext cx="3017520" cy="502920"/>
          </a:xfrm>
          <a:prstGeom prst="rect">
            <a:avLst/>
          </a:prstGeom>
          <a:solidFill>
            <a:srgbClr val="14161E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5" name="TextBox 34"/>
          <p:cNvSpPr txBox="1"/>
          <p:nvPr/>
        </p:nvSpPr>
        <p:spPr>
          <a:xfrm>
            <a:off x="8732520" y="307238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JetBrains Mono"/>
              </a:rPr>
              <a:t>ANN search (cosine, HNSW)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40080" y="3429000"/>
            <a:ext cx="1554480" cy="502920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7" name="TextBox 36"/>
          <p:cNvSpPr txBox="1"/>
          <p:nvPr/>
        </p:nvSpPr>
        <p:spPr>
          <a:xfrm>
            <a:off x="777240" y="357530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Inter"/>
              </a:rPr>
              <a:t>Redis</a:t>
            </a:r>
          </a:p>
        </p:txBody>
      </p:sp>
      <p:sp>
        <p:nvSpPr>
          <p:cNvPr id="38" name="Rectangle 37"/>
          <p:cNvSpPr/>
          <p:nvPr/>
        </p:nvSpPr>
        <p:spPr>
          <a:xfrm>
            <a:off x="2194560" y="3429000"/>
            <a:ext cx="1463040" cy="502920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2331720" y="357530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Inter"/>
              </a:rPr>
              <a:t>Key-Value</a:t>
            </a:r>
          </a:p>
        </p:txBody>
      </p:sp>
      <p:sp>
        <p:nvSpPr>
          <p:cNvPr id="40" name="Rectangle 39"/>
          <p:cNvSpPr/>
          <p:nvPr/>
        </p:nvSpPr>
        <p:spPr>
          <a:xfrm>
            <a:off x="3657600" y="3429000"/>
            <a:ext cx="2377440" cy="502920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1" name="TextBox 40"/>
          <p:cNvSpPr txBox="1"/>
          <p:nvPr/>
        </p:nvSpPr>
        <p:spPr>
          <a:xfrm>
            <a:off x="3794760" y="357530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Inter"/>
              </a:rPr>
              <a:t>Строки в RAM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35040" y="3429000"/>
            <a:ext cx="2560320" cy="502920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3" name="TextBox 42"/>
          <p:cNvSpPr txBox="1"/>
          <p:nvPr/>
        </p:nvSpPr>
        <p:spPr>
          <a:xfrm>
            <a:off x="6172200" y="357530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Inter"/>
              </a:rPr>
              <a:t>Кэш ответов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595360" y="3429000"/>
            <a:ext cx="3017520" cy="502920"/>
          </a:xfrm>
          <a:prstGeom prst="rect">
            <a:avLst/>
          </a:prstGeom>
          <a:solidFill>
            <a:srgbClr val="0F1117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5" name="TextBox 44"/>
          <p:cNvSpPr txBox="1"/>
          <p:nvPr/>
        </p:nvSpPr>
        <p:spPr>
          <a:xfrm>
            <a:off x="8732520" y="357530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JetBrains Mono"/>
              </a:rPr>
              <a:t>GET / SETEX 3600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40080" y="3931920"/>
            <a:ext cx="1554480" cy="502920"/>
          </a:xfrm>
          <a:prstGeom prst="rect">
            <a:avLst/>
          </a:prstGeom>
          <a:solidFill>
            <a:srgbClr val="14161E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7" name="TextBox 46"/>
          <p:cNvSpPr txBox="1"/>
          <p:nvPr/>
        </p:nvSpPr>
        <p:spPr>
          <a:xfrm>
            <a:off x="777240" y="4078224"/>
            <a:ext cx="128016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1">
                <a:solidFill>
                  <a:srgbClr val="E2E8F0"/>
                </a:solidFill>
                <a:latin typeface="Inter"/>
              </a:rPr>
              <a:t>ClickHouse</a:t>
            </a:r>
          </a:p>
        </p:txBody>
      </p:sp>
      <p:sp>
        <p:nvSpPr>
          <p:cNvPr id="48" name="Rectangle 47"/>
          <p:cNvSpPr/>
          <p:nvPr/>
        </p:nvSpPr>
        <p:spPr>
          <a:xfrm>
            <a:off x="2194560" y="3931920"/>
            <a:ext cx="1463040" cy="502920"/>
          </a:xfrm>
          <a:prstGeom prst="rect">
            <a:avLst/>
          </a:prstGeom>
          <a:solidFill>
            <a:srgbClr val="14161E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9" name="TextBox 48"/>
          <p:cNvSpPr txBox="1"/>
          <p:nvPr/>
        </p:nvSpPr>
        <p:spPr>
          <a:xfrm>
            <a:off x="2331720" y="4078224"/>
            <a:ext cx="11887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Inter"/>
              </a:rPr>
              <a:t>Columnar OLAP</a:t>
            </a:r>
          </a:p>
        </p:txBody>
      </p:sp>
      <p:sp>
        <p:nvSpPr>
          <p:cNvPr id="50" name="Rectangle 49"/>
          <p:cNvSpPr/>
          <p:nvPr/>
        </p:nvSpPr>
        <p:spPr>
          <a:xfrm>
            <a:off x="3657600" y="3931920"/>
            <a:ext cx="2377440" cy="502920"/>
          </a:xfrm>
          <a:prstGeom prst="rect">
            <a:avLst/>
          </a:prstGeom>
          <a:solidFill>
            <a:srgbClr val="14161E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1" name="TextBox 50"/>
          <p:cNvSpPr txBox="1"/>
          <p:nvPr/>
        </p:nvSpPr>
        <p:spPr>
          <a:xfrm>
            <a:off x="3794760" y="4078224"/>
            <a:ext cx="210312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Inter"/>
              </a:rPr>
              <a:t>Колонки с сжатием</a:t>
            </a:r>
          </a:p>
        </p:txBody>
      </p:sp>
      <p:sp>
        <p:nvSpPr>
          <p:cNvPr id="52" name="Rectangle 51"/>
          <p:cNvSpPr/>
          <p:nvPr/>
        </p:nvSpPr>
        <p:spPr>
          <a:xfrm>
            <a:off x="6035040" y="3931920"/>
            <a:ext cx="2560320" cy="502920"/>
          </a:xfrm>
          <a:prstGeom prst="rect">
            <a:avLst/>
          </a:prstGeom>
          <a:solidFill>
            <a:srgbClr val="14161E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3" name="TextBox 52"/>
          <p:cNvSpPr txBox="1"/>
          <p:nvPr/>
        </p:nvSpPr>
        <p:spPr>
          <a:xfrm>
            <a:off x="6172200" y="4078224"/>
            <a:ext cx="22860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E2E8F0"/>
                </a:solidFill>
                <a:latin typeface="Inter"/>
              </a:rPr>
              <a:t>Логи и статистика</a:t>
            </a:r>
          </a:p>
        </p:txBody>
      </p:sp>
      <p:sp>
        <p:nvSpPr>
          <p:cNvPr id="54" name="Rectangle 53"/>
          <p:cNvSpPr/>
          <p:nvPr/>
        </p:nvSpPr>
        <p:spPr>
          <a:xfrm>
            <a:off x="8595360" y="3931920"/>
            <a:ext cx="3017520" cy="502920"/>
          </a:xfrm>
          <a:prstGeom prst="rect">
            <a:avLst/>
          </a:prstGeom>
          <a:solidFill>
            <a:srgbClr val="14161E"/>
          </a:solidFill>
          <a:ln w="6350">
            <a:solidFill>
              <a:srgbClr val="2A2D3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5" name="TextBox 54"/>
          <p:cNvSpPr txBox="1"/>
          <p:nvPr/>
        </p:nvSpPr>
        <p:spPr>
          <a:xfrm>
            <a:off x="8732520" y="4078224"/>
            <a:ext cx="27432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0">
                <a:solidFill>
                  <a:srgbClr val="E2E8F0"/>
                </a:solidFill>
                <a:latin typeface="JetBrains Mono"/>
              </a:rPr>
              <a:t>INSERT + GROUP BY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640080" y="54864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Каждая БД оптимизирована под свой класс задач. Заменить любую на другую — деградация по скорости или функциональности.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0080" y="585216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94A3B8"/>
                </a:solidFill>
                <a:latin typeface="Inter"/>
              </a:rPr>
              <a:t>Это и есть polyglot persistence — стандартный подход в современных production-системах.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ArXiv Semantic Search · NoSQL stack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14 / 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1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411480"/>
            <a:ext cx="10972800" cy="3200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100" b="1">
                <a:solidFill>
                  <a:srgbClr val="6366F1"/>
                </a:solidFill>
                <a:latin typeface="Inter"/>
              </a:rPr>
              <a:t>ИСТОЧНИКИ И ССЫЛКИ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713232"/>
            <a:ext cx="1097280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E2E8F0"/>
                </a:solidFill>
                <a:latin typeface="Inter"/>
              </a:rPr>
              <a:t>Документация использованных БД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417320"/>
            <a:ext cx="10911535" cy="0"/>
          </a:xfrm>
          <a:prstGeom prst="line">
            <a:avLst/>
          </a:prstGeom>
          <a:ln w="9525">
            <a:solidFill>
              <a:srgbClr val="2A2D3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40080" y="1874519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Inter"/>
              </a:rPr>
              <a:t>MongoDB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20" y="1874519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366F1"/>
                </a:solidFill>
                <a:latin typeface="JetBrains Mono"/>
              </a:rPr>
              <a:t>https://www.mongodb.com/docs/manual/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331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Inter"/>
              </a:rPr>
              <a:t>Qdrant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2331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366F1"/>
                </a:solidFill>
                <a:latin typeface="JetBrains Mono"/>
              </a:rPr>
              <a:t>https://qdrant.tech/documentation/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7889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Inter"/>
              </a:rPr>
              <a:t>Redis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89120" y="27889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366F1"/>
                </a:solidFill>
                <a:latin typeface="JetBrains Mono"/>
              </a:rPr>
              <a:t>https://redis.io/docs/latest/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32461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Inter"/>
              </a:rPr>
              <a:t>ClickHouse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89120" y="32461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366F1"/>
                </a:solidFill>
                <a:latin typeface="JetBrains Mono"/>
              </a:rPr>
              <a:t>https://clickhouse.com/docs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7033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Inter"/>
              </a:rPr>
              <a:t>sentence-transformers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89120" y="37033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366F1"/>
                </a:solidFill>
                <a:latin typeface="JetBrains Mono"/>
              </a:rPr>
              <a:t>https://www.sbert.net/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1605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Inter"/>
              </a:rPr>
              <a:t>HNSW (Hierarchical NSW)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89120" y="41605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366F1"/>
                </a:solidFill>
                <a:latin typeface="JetBrains Mono"/>
              </a:rPr>
              <a:t>https://arxiv.org/abs/1603.09320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" y="4617720"/>
            <a:ext cx="3657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1">
                <a:solidFill>
                  <a:srgbClr val="E2E8F0"/>
                </a:solidFill>
                <a:latin typeface="Inter"/>
              </a:rPr>
              <a:t>Polyglot persistence (M. Fowler)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89120" y="4617720"/>
            <a:ext cx="73152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200" b="0">
                <a:solidFill>
                  <a:srgbClr val="6366F1"/>
                </a:solidFill>
                <a:latin typeface="JetBrains Mono"/>
              </a:rPr>
              <a:t>https://martinfowler.com/bliki/PolyglotPersistence.html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5943600"/>
            <a:ext cx="109728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E2E8F0"/>
                </a:solidFill>
                <a:latin typeface="Inter"/>
              </a:rPr>
              <a:t>Спасибо!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6446520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900" b="0">
                <a:solidFill>
                  <a:srgbClr val="94A3B8"/>
                </a:solidFill>
                <a:latin typeface="Inter"/>
              </a:rPr>
              <a:t>ArXiv Semantic Search · NoSQL stack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637215" y="6446520"/>
            <a:ext cx="9144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r"/>
            <a:r>
              <a:rPr sz="900" b="0">
                <a:solidFill>
                  <a:srgbClr val="94A3B8"/>
                </a:solidFill>
                <a:latin typeface="Inter"/>
              </a:rPr>
              <a:t>15 / 14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